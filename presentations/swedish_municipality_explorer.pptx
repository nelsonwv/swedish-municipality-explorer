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8B7355"/>
                </a:solidFill>
                <a:latin typeface="Calibri"/>
              </a:rPr>
              <a:t>Swedish Municipality Explorer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1">
                <a:solidFill>
                  <a:srgbClr val="6B6B6B"/>
                </a:solidFill>
                <a:latin typeface="Calibri"/>
              </a:rPr>
              <a:t>A data engineering portfolio project by Waldean Nelson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2194560"/>
            <a:ext cx="1828800" cy="2540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2697480"/>
            <a:ext cx="54864" cy="310896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622792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 i="0">
                <a:solidFill>
                  <a:srgbClr val="2C2C2C"/>
                </a:solidFill>
                <a:latin typeface="Calibri"/>
              </a:rPr>
              <a:t>I'm a new graduate figuring out where to settle in Sweden. I found SCB data capturing employment, income, and education at municipality level — and buried in it was a region of birth dimension that nobody was talking about. As someone not born in Sweden, I couldn't ignore it. This project builds a pipeline from raw government data to an interactive dashboard that makes inequality visible at municipality level — for the first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9304"/>
            <a:ext cx="146304" cy="146304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Opportunity scoring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Scores all 290 Swedish municipalities across four dimensions — Employment, Income, Education, and Mobility — each normalized to a 0–100 percentile.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14016"/>
            <a:ext cx="146304" cy="146304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Custom weighting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Adjustable weight sliders re-prioritize the four dimensions live, with four built-in presets: Balanced, Job seeker, Quality of life, and Family focused.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38728"/>
            <a:ext cx="146304" cy="146304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83864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Integration lens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 Population group filter (All residents / Born in Sweden / Born abroad) reveals integration gaps that national averages hide.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146304" cy="146304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08576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Interactive map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An interactive choropleth map visualizes the Opportunity Index across all 290 municipalities at a glance.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34440"/>
            <a:ext cx="4233672" cy="306324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Calibri"/>
              </a:rPr>
              <a:t>[INSERT DASHBOARD SCREENSHOT HERE]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434840"/>
            <a:ext cx="4233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8B7355"/>
                </a:solidFill>
                <a:latin typeface="Calibri"/>
              </a:rPr>
              <a:t>Live at: [STREAMLIT_URL] — deploy first, add URL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Data Sources (SCB PxWebApi v2)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194560"/>
                <a:gridCol w="5330952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SCB Table ID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BE0101A / BefolkningNy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Total population per 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290 rows — 1 per 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Median income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AA0003F / IntGr5Kom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Median disposable income (price base amounts)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290 rows — 1 per 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Employment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AM0207Z / RamsForvInt04N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Employment rate, by region of birth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870 rows — 290 munis × 3 region-of-birth groups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UF0506B / UtbBefRegionR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Population with post-secondary education (ISCED 5–7)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290 rows — 1 per 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Commuting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AM0207Z / PendlingKN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Residents commuting out of the municipality for work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2C2C2C"/>
                          </a:solidFill>
                          <a:latin typeface="Calibri"/>
                        </a:rPr>
                        <a:t>290 rows — 1 per 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B6B6B"/>
                </a:solidFill>
                <a:latin typeface="Calibri"/>
              </a:rPr>
              <a:t>All data sourced via SCB PxWebApi v2. Snapshot year: 2021. Municipality code (4-digit) is the joining key across all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54864" cy="91440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108630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8B7355"/>
                </a:solidFill>
                <a:latin typeface="Calibri"/>
              </a:rPr>
              <a:t>Note: Employment is the only table with a region_of_birth dimension (total / born_in_sweden / born_abroad) — it powers the Population group filter and the integration-gap analysis on Slide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The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SCB PxWebApi v2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5 datasets · 2021 snapshot · 290 municipalities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3412" y="1920240"/>
            <a:ext cx="292608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B7355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602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Python Ingestor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SCBClient + SnowflakeLoader — rate-limited, cell-aware 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0792" y="1920240"/>
            <a:ext cx="292608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B7355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Snowflake RAW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5 raw tables · ~2,030 rows loaded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8172" y="1920240"/>
            <a:ext cx="292608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B7355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dbt Staging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5 stg_* models — cleaned &amp; standardized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920240"/>
            <a:ext cx="292608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B7355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dbt Intermediate + Marts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int_municipality_profiles → dim_municipality + fct_opportunity_scores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2932" y="1920240"/>
            <a:ext cx="292608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B7355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35540" y="1920240"/>
            <a:ext cx="1604772" cy="2103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Streamlit Dashboard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Rankings · Compare · Map · About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53 dbt tests  •  Full documentation  •  Version controlled on GitHub  •  Agent-documented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Data Model — From Raw to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19050" cy="502920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Full Lineage (dbt models)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Star Schema (MARTS)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B7355"/>
                </a:solidFill>
                <a:latin typeface="Calibri"/>
              </a:rPr>
              <a:t>RAW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raw_population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raw_income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raw_employment ← (key: has region_of_birth)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raw_education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raw_commuting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486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B7355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70632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B7355"/>
                </a:solidFill>
                <a:latin typeface="Calibri"/>
              </a:rPr>
              <a:t>STAGING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stg_population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stg_income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stg_employment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stg_education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stg_commuting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30752"/>
            <a:ext cx="5486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B7355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95344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B7355"/>
                </a:solidFill>
                <a:latin typeface="Calibri"/>
              </a:rPr>
              <a:t>INTERMEDIATE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int_municipality_profiles (290 rows)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Calculated: employment_gap, pct_post_secondary, out_commute_rate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55464"/>
            <a:ext cx="5486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8B7355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0056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B7355"/>
                </a:solidFill>
                <a:latin typeface="Calibri"/>
              </a:rPr>
              <a:t>MARTS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dim_municipality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2C2C2C"/>
                </a:solidFill>
                <a:latin typeface="Calibri"/>
              </a:rPr>
              <a:t>fct_opportunity_scores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202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8B7355"/>
                </a:solidFill>
                <a:latin typeface="Calibri"/>
              </a:rPr>
              <a:t>fct_opportunity_scores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municipality_code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region_of_birth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income_score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employment_score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education_score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mobility_score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057400"/>
            <a:ext cx="2194560" cy="155448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8B7355"/>
                </a:solidFill>
                <a:latin typeface="Calibri"/>
              </a:rPr>
              <a:t>dim_municipality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municipality_code (PK)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municipality_name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county_name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population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population_category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C2C2C"/>
                </a:solidFill>
                <a:latin typeface="Calibri"/>
              </a:rPr>
              <a:t>•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834640"/>
            <a:ext cx="365760" cy="1905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1">
                <a:solidFill>
                  <a:srgbClr val="6B6B6B"/>
                </a:solidFill>
                <a:latin typeface="Calibri"/>
              </a:rPr>
              <a:t>Each municipality has 3 fct_opportunity_scores rows — one per region_of_birth value (total / born_in_sweden / born_abroad) — joined to a single dim_municipality row on (municipality_code, year).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How the Opportunity Index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7355"/>
                </a:solidFill>
                <a:latin typeface="Calibri"/>
              </a:rPr>
              <a:t>Employment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Min-max normalized within each region-of-birth group — reflects a municipality's standing among peers for that specific population group (total / born in Sweden / born abroad).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14300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7355"/>
                </a:solidFill>
                <a:latin typeface="Calibri"/>
              </a:rPr>
              <a:t>Income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Min-max normalized median income across all 290 municipalities — higher income means a higher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7355"/>
                </a:solidFill>
                <a:latin typeface="Calibri"/>
              </a:rPr>
              <a:t>Education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Share of the population (16–95+) with post-secondary education (ISCED 5–7), min-max normalized across all 290 municipalities.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42316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7355"/>
                </a:solidFill>
                <a:latin typeface="Calibri"/>
              </a:rPr>
              <a:t>Mobility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Inverse min-max of the out-commuting rate — municipalities where fewer residents commute elsewhere for work score higher.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opportunity_index = 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    employment_score * w_employment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  + income_score      * w_income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  + education_score   * w_education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  + mobility_score    * w_mobility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onsolas"/>
              </a:rPr>
              <a:t>) / sum(all weights)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8B7355"/>
                </a:solidFill>
                <a:latin typeface="Calibri"/>
              </a:rPr>
              <a:t>What 0–100 means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Each component score is a percentile: 0 is the lowest value among all 290 municipalities, 100 is the highest — so the Opportunity Index lands on the same 0–100 scale. No municipality dominates every dimension: Danderyd scores 100 on income (the highest median in Sweden) but only 56 on employment, roughly mid-pack within its population group. The Opportunity Index captures that trade-off in a single, comparable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The Gap That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 i="0">
                <a:solidFill>
                  <a:srgbClr val="8B7355"/>
                </a:solidFill>
                <a:latin typeface="Calibri"/>
              </a:rPr>
              <a:t>Switching the Population group filter from “All residents” to “Born abroad” barely moves most municipalities — but for a handful, the gap tells a real story.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091672" cy="2606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468880"/>
                <a:gridCol w="246888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Municipality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Born in Sweden rank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Born abroad rank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8B7355"/>
                      </a:solidFill>
                      <a:prstDash val="solid"/>
                    </a:lnL>
                    <a:lnR w="9525" cap="flat" cmpd="sng" algn="ctr">
                      <a:solidFill>
                        <a:srgbClr val="8B7355"/>
                      </a:solidFill>
                      <a:prstDash val="solid"/>
                    </a:lnR>
                    <a:lnT w="9525" cap="flat" cmpd="sng" algn="ctr">
                      <a:solidFill>
                        <a:srgbClr val="8B7355"/>
                      </a:solidFill>
                      <a:prstDash val="solid"/>
                    </a:lnT>
                    <a:lnB w="9525" cap="flat" cmpd="sng" algn="ctr">
                      <a:solidFill>
                        <a:srgbClr val="8B7355"/>
                      </a:solidFill>
                      <a:prstDash val="solid"/>
                    </a:lnB>
                    <a:solidFill>
                      <a:srgbClr val="8B7355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Sollentuna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#15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#10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▲ +5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Österåker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#16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#12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▲ +4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5B8A6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Ekerö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▲ +1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Göteborg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▲ +1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EDE8D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Härryda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#10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#11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2C2C2C"/>
                          </a:solidFill>
                          <a:latin typeface="Calibri"/>
                        </a:rPr>
                        <a:t>→ stable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F5F0E8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Solna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▼ -2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Stockholm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FFFFF"/>
                          </a:solidFill>
                          <a:latin typeface="Calibri"/>
                        </a:rPr>
                        <a:t>▼ -1</a:t>
                      </a:r>
                    </a:p>
                  </a:txBody>
                  <a:tcPr anchor="ctr" marL="91440" marR="91440">
                    <a:lnL w="9525" cap="flat" cmpd="sng" algn="ctr">
                      <a:solidFill>
                        <a:srgbClr val="D4CFC6"/>
                      </a:solidFill>
                      <a:prstDash val="solid"/>
                    </a:lnL>
                    <a:lnR w="9525" cap="flat" cmpd="sng" algn="ctr">
                      <a:solidFill>
                        <a:srgbClr val="D4CFC6"/>
                      </a:solidFill>
                      <a:prstDash val="solid"/>
                    </a:lnR>
                    <a:lnT w="9525" cap="flat" cmpd="sng" algn="ctr">
                      <a:solidFill>
                        <a:srgbClr val="D4CFC6"/>
                      </a:solidFill>
                      <a:prstDash val="solid"/>
                    </a:lnT>
                    <a:lnB w="9525" cap="flat" cmpd="sng" algn="ctr">
                      <a:solidFill>
                        <a:srgbClr val="D4CFC6"/>
                      </a:solidFill>
                      <a:prstDash val="solid"/>
                    </a:lnB>
                    <a:solidFill>
                      <a:srgbClr val="C17A5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548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5B8A6F"/>
                </a:solidFill>
                <a:latin typeface="Calibri"/>
              </a:rPr>
              <a:t>KEY INSIGHT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Sollentuna jumps from #15 to #10 (+5) for residents born abroad — its employment outcomes for foreign-born residents outperform its overall ranking, suggesting strong labor-market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47548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C17A5A"/>
                </a:solidFill>
                <a:latin typeface="Calibri"/>
              </a:rPr>
              <a:t>KEY INSIGHT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C2C2C"/>
                </a:solidFill>
                <a:latin typeface="Calibri"/>
              </a:rPr>
              <a:t>Stockholm slips from #2 to #3 (-1) for residents born abroad. Even Sweden's capital — and the country's #2 municipality overall — shows a measurable employment gap by region of birth.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0" i="1">
                <a:solidFill>
                  <a:srgbClr val="6B6B6B"/>
                </a:solidFill>
                <a:latin typeface="Calibri"/>
              </a:rPr>
              <a:t>For the large majority of Sweden's 290 municipalities, the overall rank and the born-abroad rank are nearly identical — meaning opportunity, as measured here, is largely independent of where a resident was born. The exceptions above are exactly where this dashboard adds value: invisible in national averages, visible only at the municipality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8B7355"/>
                </a:solidFill>
                <a:latin typeface="Calibri"/>
              </a:rPr>
              <a:t>Challenges, Future Improvements &amp;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19050" cy="3291840"/>
          </a:xfrm>
          <a:prstGeom prst="rect">
            <a:avLst/>
          </a:prstGeom>
          <a:solidFill>
            <a:srgbClr val="D4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Challenges encountered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B7355"/>
                </a:solidFill>
                <a:latin typeface="Calibri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SCB API endpoint changes — 2 of the 5 planned table paths returned 400 Bad Request and had to be replaced with current equivalents (employment, education) before ingestion could run.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A 2019 methodology break in SCB's employment statistics meant older series weren't comparable to the 2021 snapshot, ruling out a simple historical extension.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Commuting data was originally planned from Trafikanalys, but that source is county-level only — replaced with SCB's municipality-level commuting table (PendlingKN) instead.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SCB's PxWebApi enforces a 150,000-cell limit per query — the ingestor includes cell-count-aware chunking logic for any future larger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Automate the pipeline with GitHub Actions for scheduled refreshes as new SCB data is published.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Add a 5th dimension — housing cost/affordability — sourced from Booli or Hemnet listing data.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Extend to historical trending (2015–2023) once the 2019 methodology break is reconciled.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Incorporate school performance data (e.g. Skolverket) as an additional opportunity dimension.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Migrate from Snowflake to DuckDB for a lighter-weight, fully local/open-source deployment.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C2C2C"/>
                </a:solidFill>
                <a:latin typeface="Calibri"/>
              </a:rPr>
              <a:t>•  Add statistical significance testing to the rank-change analysis on Slide 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Live Dashboard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C2C2C"/>
                </a:solidFill>
                <a:latin typeface="Calibri"/>
              </a:rPr>
              <a:t>[STREAMLIT_URL — add after deployment]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80060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Source Code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C2C2C"/>
                </a:solidFill>
                <a:latin typeface="Calibri"/>
              </a:rPr>
              <a:t>https://github.com/nelsonwv/swedish-municipality-explorer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4800600"/>
            <a:ext cx="3575304" cy="14173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 w="12700">
            <a:solidFill>
              <a:srgbClr val="D4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B7355"/>
                </a:solidFill>
                <a:latin typeface="Calibri"/>
              </a:rPr>
              <a:t>Connect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C2C2C"/>
                </a:solidFill>
                <a:latin typeface="Calibri"/>
              </a:rPr>
              <a:t>linkedin.com/in/[handle]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Swedish Municipality Explorer — Waldean Nelson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